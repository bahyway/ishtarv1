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0" y="3657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D4A843"/>
                </a:solidFill>
                <a:latin typeface="Segoe UI"/>
              </a:rPr>
              <a:t>𒀭𒂗𒆤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D4A843"/>
                </a:solidFill>
                <a:latin typeface="Segoe UI"/>
              </a:rPr>
              <a:t>EnkiDB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8E8E8"/>
                </a:solidFill>
                <a:latin typeface="Segoe UI"/>
              </a:rPr>
              <a:t>Orbit-Oriented Ontology &amp; the BahyWay Triple-O Philosophy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8D5A3"/>
                </a:solidFill>
                <a:latin typeface="Segoe UI"/>
              </a:rPr>
              <a:t>إنكي-قاعدة البيانات — فلسفة الكون المداري السيادي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4A843"/>
                </a:solidFill>
                <a:latin typeface="Segoe UI"/>
              </a:rPr>
              <a:t>Bahaa Fadam — BahyWay Sovereign Ecosystem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8888"/>
                </a:solidFill>
                <a:latin typeface="Segoe UI"/>
              </a:rPr>
              <a:t>Iraqi Technology University, Baghdad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120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  <a:latin typeface="Segoe UI"/>
              </a:rPr>
              <a:t>v4.0.2 · 79 Crates · Pure Rust · 1,804 Tests · Zero External Databases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D4A843"/>
                </a:solidFill>
                <a:latin typeface="Segoe UI"/>
              </a:rPr>
              <a:t>Agenda — 90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1">
                <a:solidFill>
                  <a:srgbClr val="E8D5A3"/>
                </a:solidFill>
                <a:latin typeface="Segoe UI"/>
              </a:rPr>
              <a:t>جدول الأعمال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27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E8E8"/>
                </a:solidFill>
                <a:latin typeface="Segoe UI"/>
              </a:rPr>
              <a:t>  I     The Problem                 15 min    Why all databases fail at scale
  II    Triple-O Philosophy         20 min    3 Axioms · KAKI · H(P) equation
  III   The Engine                  20 min    12 Layers · BeeMDM Pipeline
  IV    Live Demo                   15 min    WASM Particle Visualizer
  V     Real Applications           10 min    Najaf · Baghdad WPD · Nusku
  —     Q&amp;A                         10 min    Sovereignty Manifesto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D4A843"/>
                </a:solidFill>
                <a:latin typeface="Segoe UI"/>
              </a:rPr>
              <a:t>Part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E8E8E8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8D5A3"/>
                </a:solidFill>
                <a:latin typeface="Segoe UI"/>
              </a:rPr>
              <a:t>الجزء الأول — المشكلة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D4A843"/>
                </a:solidFill>
                <a:latin typeface="Segoe UI"/>
              </a:rPr>
              <a:t>Every Enterprise Has This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1">
                <a:solidFill>
                  <a:srgbClr val="E8D5A3"/>
                </a:solidFill>
                <a:latin typeface="Segoe UI"/>
              </a:rPr>
              <a:t>كل مؤسسة تعاني من هذه المشكلة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27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E8E8"/>
                </a:solidFill>
                <a:latin typeface="Segoe UI"/>
              </a:rPr>
              <a:t>The Spaghetti Reality:
  • 12 databases, each with its own schema for 'customer'
  • 3 ETL pipelines that disagree on what 'name' means
  • Nobody knows which record is the truth
  • DELETE destroys audit history
  • UPDATE erases causality
  • Soft-delete hacks everywhere
"A datum without an orbit is data without a home."
بيانات بلا مدار هي بيانات بلا وطن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D4A843"/>
                </a:solidFill>
                <a:latin typeface="Segoe UI"/>
              </a:rPr>
              <a:t>Part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E8E8E8"/>
                </a:solidFill>
                <a:latin typeface="Segoe UI"/>
              </a:rPr>
              <a:t>Triple-O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8D5A3"/>
                </a:solidFill>
                <a:latin typeface="Segoe UI"/>
              </a:rPr>
              <a:t>فلسفة الكون المداري المثلث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88888"/>
                </a:solidFill>
                <a:latin typeface="Segoe UI"/>
              </a:rPr>
              <a:t>3 Axioms that replace all of relational theory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D4A843"/>
                </a:solidFill>
                <a:latin typeface="Segoe UI"/>
              </a:rPr>
              <a:t>Axiom 1 — Every Datum is a Particle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1">
                <a:solidFill>
                  <a:srgbClr val="E8D5A3"/>
                </a:solidFill>
                <a:latin typeface="Segoe UI"/>
              </a:rPr>
              <a:t>البديهية الأولى — كل بيانة هي جسيم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27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E8E8"/>
                </a:solidFill>
                <a:latin typeface="Segoe UI"/>
              </a:rPr>
              <a:t>A datum is NOT a row, document, or record.
A datum is a PHYSICAL OBJECT with:
  • Position in 7-dimensional quality space
  • Velocity — rate of state change
  • Density — neighbour count (SPH model)
  • Orbital energy — quality score H(P)
Physics metaphor: data obeys the same laws as matter.
Every datum has a place it belongs,
and we can measure how far it has drifted.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D4A843"/>
                </a:solidFill>
                <a:latin typeface="Segoe UI"/>
              </a:rPr>
              <a:t>Axiom 2 — Identity ≠ State (KAKI)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1">
                <a:solidFill>
                  <a:srgbClr val="E8D5A3"/>
                </a:solidFill>
                <a:latin typeface="Segoe UI"/>
              </a:rPr>
              <a:t>البديهية الثانية — الهوية ليست الحالة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27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8E8"/>
                </a:solidFill>
                <a:latin typeface="Segoe UI"/>
              </a:rPr>
              <a:t>KAKI Nucleus (κ) — 16 bytes — IMMUTABLE — born once, sealed forever
  [ uuid_hash(4) | tribe_id(2) | type(1) | role(1) |
    seq_counter(4) | epoch(2) | crc16(2) ]
EAV Orbit — mutable · event-driven · append-only · time-stamped
← All state lives here. NEVER in the nucleus.
Three KAKI Types:
  0x01  IdentityKaki  (KISHIB) — permanent sovereign particle
  0x02  EventKaki     (ZIKRU)  — mutable state carrier
  0x03  CrossTribeKaki(PARZU)  — inter-tribe connector
"The nucleus never changes. The orbit evolves."
الجوهر لا يتغير. المدار يتطور.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D4A843"/>
                </a:solidFill>
                <a:latin typeface="Segoe UI"/>
              </a:rPr>
              <a:t>Axiom 3 — Quality is Orbital Distance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1">
                <a:solidFill>
                  <a:srgbClr val="E8D5A3"/>
                </a:solidFill>
                <a:latin typeface="Segoe UI"/>
              </a:rPr>
              <a:t>البديهية الثالثة — الجودة هي المسافة المدارية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27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8E8"/>
                </a:solidFill>
                <a:latin typeface="Segoe UI"/>
              </a:rPr>
              <a:t>H(P) = 1 / (1 + √ Σ wᵢ(Pᵢ − Tᵢ)²)
B11 = round(H(P) × 240)    →    [0 .. 240]
7 Ibn Wahshiyya Dimensions:
  D1 Accuracy     w=0.30    D5 Uniqueness   w=0.10
  D2 Completeness w=0.20    D6 Timeliness   w=0.05
  D3 Consistency  w=0.15    D7 Integrity    w=0.05
  D4 Validity     w=0.15
Quality Lanes:
  GEM    B11 ≥ 200    Inner ring  (35.4% target)
  TRIBE  B11 140-199  Mid ring
  ACTIVE B11 100-139  Mid ring
  FUZZY  B11  60- 99  Outer ring  (monitored)
  DEAD   B11   &lt; 60   Rule 7 sink
Why 240 not 255? ← Plimpton 322 (Babylonian base-60)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D4A843"/>
                </a:solidFill>
                <a:latin typeface="Segoe UI"/>
              </a:rPr>
              <a:t>The 7 Tribal Laws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1">
                <a:solidFill>
                  <a:srgbClr val="E8D5A3"/>
                </a:solidFill>
                <a:latin typeface="Segoe UI"/>
              </a:rPr>
              <a:t>القوانين القبلية السبعة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27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E8E8"/>
                </a:solidFill>
                <a:latin typeface="Segoe UI"/>
              </a:rPr>
              <a:t>Priority (ascending): P(L3) &lt; P(L7) &lt; P(L1) &lt; P(L2) &lt; P(L5) &lt; P(L4) &lt; P(L6)
L3  Scope Law      — Domain boundary enforcement
L7  Overflow Law   — Density ≥ 11 neighbours → DeadArchive (Rule 7)
L1  Identity Law   — KAKI nucleus locked forever
L2  Quality Law    — Promotes particles that improve H(P)
L5  Transition Law — Stabilises FUZZY, prevents oscillation
L4  Orbit Law      — Governs GEM ascent via centroid
L6  Sovereignty Law — SUPREME: GEM particles protected
Sovereign constants:
  TAU_R7 = 11  (Rule 7 trigger)
  RESONANCE_RADIUS = 0.15  (SPH kernel window)
  GEM_RATE_TARGET = 35.4%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D4A843"/>
                </a:solidFill>
                <a:latin typeface="Segoe UI"/>
              </a:rPr>
              <a:t>Part III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E8E8E8"/>
                </a:solidFill>
                <a:latin typeface="Segoe UI"/>
              </a:rPr>
              <a:t>The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88888"/>
                </a:solidFill>
                <a:latin typeface="Segoe UI"/>
              </a:rPr>
              <a:t>79 crates · 12 layers · Pure Rust · Zero external databases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D4A843"/>
                </a:solidFill>
                <a:latin typeface="Segoe UI"/>
              </a:rPr>
              <a:t>12-Layer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1">
                <a:solidFill>
                  <a:srgbClr val="E8D5A3"/>
                </a:solidFill>
                <a:latin typeface="Segoe UI"/>
              </a:rPr>
              <a:t>البنية المعمارية ذات الـ ١٢ طبقة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27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E8E8"/>
                </a:solidFill>
                <a:latin typeface="Segoe UI"/>
              </a:rPr>
              <a:t>L12  bahyway-web           WASM · Canvas 2D · Browser target
L11  dubsar-ide · dubsar-visualizer
L10  eridu-runtime · scheduler · supervisor
L9.5 enkidullm-* · zikru-embed      Sovereign LLM
L9.1 kupru · akkvalue · istar        Crypto / Access Control
L9   aaol · heptascript · akkadi     Languages
L8   bahyway-fabric · bahyway-dqm    ◄ Enterprise Data Fabric
L7   template-engine · damadmbok-dictionary
L6   idu-prober · idu-batching
L5   story · fuzzy · score · najaf · wpd · dmw (18 engines)
L4.5 vgca-engine · tribe-orbit-engine · ammas-engine  Physics
L4   enkidb-engine · enkidb-query
L3   enkidb-indexes (7 types) · enkidb-dictionary
L2   block · journal · storage · snapshot · quantdb
L1   enkidb-kaki · enkidb-vector-id
L0   bahyway-core · bahyway-crc · bahyway-algebra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D4A843"/>
                </a:solidFill>
                <a:latin typeface="Segoe UI"/>
              </a:rPr>
              <a:t>BeeMDM — Sovereign ETL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1">
                <a:solidFill>
                  <a:srgbClr val="E8D5A3"/>
                </a:solidFill>
                <a:latin typeface="Segoe UI"/>
              </a:rPr>
              <a:t>بي-إم-دي-إم — خط أنابيب البيانات السيادي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27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8E8"/>
                </a:solidFill>
                <a:latin typeface="Segoe UI"/>
              </a:rPr>
              <a:t>4 Lanes × 8 Sovereign Stations:
S0  adad-gate              VaultGate — sole ingestion point · KAKI minter
S1  musaru-security        Auth · Authorization · Threat detection
S2  vgca-validation        VGCA 7D FSV + 6D BFV geometry validation
S3  data-structure-station Structural conformance
S4  data-cleansing-station VGCA transformation + DQM 6-dimension scoring
S5  bahyway-dqm            DAMA-DMBOK 6 dimensions:
                           Completeness · Validity · Accuracy
                           Consistency · Uniqueness · Timeliness
S6  idu-prober             Cross-tribe identity resolution
S7  data-steward-station   Governance + approval workflow
S8  permanent-storage      Golden Records · Immutable · CRC-16 sealed ✓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D4A843"/>
                </a:solidFill>
                <a:latin typeface="Segoe UI"/>
              </a:rPr>
              <a:t>StoryEngine — Time-Travel Queries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1">
                <a:solidFill>
                  <a:srgbClr val="E8D5A3"/>
                </a:solidFill>
                <a:latin typeface="Segoe UI"/>
              </a:rPr>
              <a:t>محرك القصة — استعلامات السفر عبر الزمن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27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E8E8"/>
                </a:solidFill>
                <a:latin typeface="Segoe UI"/>
              </a:rPr>
              <a:t>CQRS Architecture:
  Write side: Append-only Journal (Event-KAKIs)
  Read side:  Event projection (state always projected, never stored)
  project_at(particle, epoch) algorithm:
    1. Find snapshot ≤ target epoch
    2. Load snapshot state
    3. Apply delta Event-KAKIs since snapshot
    4. Return complete state at epoch T
No UPDATE. No DELETE. Ever.
Every state change adds a new Event-KAKI.
The old state is still there. Always.
كل تغيير يضيف ختماً جديداً. الحالة القديمة لا تُمحى أبداً.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D4A843"/>
                </a:solidFill>
                <a:latin typeface="Segoe UI"/>
              </a:rPr>
              <a:t>orbital-trust-probe — Self-Regulating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1">
                <a:solidFill>
                  <a:srgbClr val="E8D5A3"/>
                </a:solidFill>
                <a:latin typeface="Segoe UI"/>
              </a:rPr>
              <a:t>مسبار الثقة المداري — الجودة ذاتية التنظيم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27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E8E8"/>
                </a:solidFill>
                <a:latin typeface="Segoe UI"/>
              </a:rPr>
              <a:t>Problem: At billion-particle scale, a particle may drift even
when fuzzy rules haven't changed. Data quality or trust failure?
4-Step Causal Attribution:
  Step 1  FuzzyRules fingerprint — did rules change?
  Step 2  StoryEngine EAV delta  — legitimate state evolution?
  Step 3  ScoreEngine field      — neighbour density shift?
  Step 4  Unexplained residual   → trust penalty applied
Closed Feedback Loop:
  OrbitalDeviation
  → D9 penalty → penalised D6 (SourceTrust)
  → lower B11 → organic ring correction
  → self-terminating cascade ✓
22 tests · OrbitalDeviationJournal (CRC-16 sealed, append-only)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D4A843"/>
                </a:solidFill>
                <a:latin typeface="Segoe UI"/>
              </a:rPr>
              <a:t>Part IV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00E5A0"/>
                </a:solidFill>
                <a:latin typeface="Segoe U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88888"/>
                </a:solidFill>
                <a:latin typeface="Segoe UI"/>
              </a:rPr>
              <a:t>Rust → WebAssembly → Browser · bahyway.com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D4A843"/>
                </a:solidFill>
                <a:latin typeface="Segoe UI"/>
              </a:rPr>
              <a:t>BeeMDM Live Demo — What You Will 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1">
                <a:solidFill>
                  <a:srgbClr val="E8D5A3"/>
                </a:solidFill>
                <a:latin typeface="Segoe UI"/>
              </a:rPr>
              <a:t>ماذا ستشاهد في العرض الحي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27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E8E8"/>
                </a:solidFill>
                <a:latin typeface="Segoe UI"/>
              </a:rPr>
              <a:t>Panel 1 — Orbital Rings
  100 particles orbiting in real time.
  Color = quality lane (GEM/TRIBE/ACTIVE/FUZZY/DEAD).
  Watch particles migrate as quality scores change.
Panel 2 — BeeMDM Pipeline
  Live ETL processing — each station lights up as data flows.
  DQM 6-dimension heatmap per record.
Panel 3 — Story Engine
  Time-travel slider. Drag to any epoch.
  CQRS projection computed live in the browser.
Tech Stack:
  Rust compiled to WASM via wasm-bindgen
  Canvas 2D rendering via web-sys bindings
  Zero server calls · Runs entirely in your browser
  يعمل بالكامل في متصفحك — لا خادم مطلوب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D4A843"/>
                </a:solidFill>
                <a:latin typeface="Segoe UI"/>
              </a:rPr>
              <a:t>Part 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E8E8E8"/>
                </a:solidFill>
                <a:latin typeface="Segoe UI"/>
              </a:rPr>
              <a:t>Real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8D5A3"/>
                </a:solidFill>
                <a:latin typeface="Segoe UI"/>
              </a:rPr>
              <a:t>التطبيقات الحقيقية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D4A843"/>
                </a:solidFill>
                <a:latin typeface="Segoe UI"/>
              </a:rPr>
              <a:t>NajafEngine — Cemetery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1">
                <a:solidFill>
                  <a:srgbClr val="E8D5A3"/>
                </a:solidFill>
                <a:latin typeface="Segoe UI"/>
              </a:rPr>
              <a:t>محرك النجف — نظام ملاحة المقابر الكبرى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27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E8E8"/>
                </a:solidFill>
                <a:latin typeface="Segoe UI"/>
              </a:rPr>
              <a:t>Wadi Al-Salam, Najaf — the world's largest cemetery.
5–6 million graves. Families cannot find ancestors.
No unified registry. No spatial index.
The EnkiDB Solution:
  • Each grave = sovereign KAKI particle (IdentityKaki 0x01)
  • Spatial position in H3 hexagonal index (D5 geo_precision)
  • Family relations via CrossTribeKaki bridges
  • Historical records via StoryEngine time-travel
  • orbital-trust-probe detects archival data drift
crate: najaf-engine
binary: bin/najaf-ingest  ← sovereign ingestion pipeline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D4A843"/>
                </a:solidFill>
                <a:latin typeface="Segoe UI"/>
              </a:rPr>
              <a:t>WPD · DMW · Nusku · AMMAS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1">
                <a:solidFill>
                  <a:srgbClr val="E8D5A3"/>
                </a:solidFill>
                <a:latin typeface="Segoe UI"/>
              </a:rPr>
              <a:t>أنابيب المياه · المشورة · الحرارة · الجسيمات الحركية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27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8E8"/>
                </a:solidFill>
                <a:latin typeface="Segoe UI"/>
              </a:rPr>
              <a:t>WPDEngine — Baghdad Water Pipeline
  Each pipe segment = KAKI particle
  Pressure readings = Event-KAKIs
  orbital-trust-probe detects anomalous pressure before leaks form
DMWEngine — SQL Advisor
  Translates legacy SQL queries → KAKI-based retrieval
  Bridges relational systems to sovereign data architecture
NuskuEngine — Thermal Screening
  (Named after the Sumerian god of fire and light)
  IR camera → particle orbit analysis · 50ms SLA pipeline budget
AMMASEngine — Kinetic Particle System
  (Named after the Akkadian war god)
  SPH density + orbital velocity · models large-scale migrations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D4A843"/>
                </a:solidFill>
                <a:latin typeface="Segoe UI"/>
              </a:rPr>
              <a:t>EnkiDB vs. Traditional Databases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1">
                <a:solidFill>
                  <a:srgbClr val="E8D5A3"/>
                </a:solidFill>
                <a:latin typeface="Segoe UI"/>
              </a:rPr>
              <a:t>إنكي-قاعدة البيانات مقابل قواعد البيانات التقليدية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27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8E8"/>
                </a:solidFill>
                <a:latin typeface="Segoe UI"/>
              </a:rPr>
              <a:t>Capability          PostgreSQL/MySQL              EnkiDB
─────────────────────────────────────────────────────────
Identity            AUTO_INCREMENT/UUID           KAKI 16-byte sovereign seal
Data Quality        Constraints (syntax only)     H(P) equation, 7D orbital score
Deletion            DELETE (destroys history)      Forbidden — INSERT supersedes
Update              UPDATE (erases causality)      New Event-KAKI appended
Time Travel         Audit log add-on               Native CQRS project_at(epoch)
Trust               Assumed                        Computed — orbital probe
Dependencies        External runtime required      Pure Rust — zero external
Arabic Support      Collation hacks                VGCA-Σ 7D native geometry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D4A843"/>
                </a:solidFill>
                <a:latin typeface="Segoe UI"/>
              </a:rPr>
              <a:t>BahyWay.Ecosystem v4.0 — By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1">
                <a:solidFill>
                  <a:srgbClr val="E8D5A3"/>
                </a:solidFill>
                <a:latin typeface="Segoe UI"/>
              </a:rPr>
              <a:t>النظام الإيكولوجي بالأرقام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27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8E8E8"/>
                </a:solidFill>
                <a:latin typeface="Segoe UI"/>
              </a:rPr>
              <a:t>Sovereign Crates         79
Passing Tests         1,804
Lines of Rust        74,022
Architecture Layers      12
External Databases        0
unsafe {} blocks (physics/intelligence)    0
Bytes per KAKI           16
KAKIs per tribe per epoch   4,294,967,294
Forbidden Operations     17
Eternal Constants         6  (QUALITY_DIVISOR=240, TAU_R7=11, …)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D4A843"/>
                </a:solidFill>
                <a:latin typeface="Segoe UI"/>
              </a:rPr>
              <a:t>The Sovereignty Manifesto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1">
                <a:solidFill>
                  <a:srgbClr val="E8D5A3"/>
                </a:solidFill>
                <a:latin typeface="Segoe UI"/>
              </a:rPr>
              <a:t>البيان السيادي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27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E8E8"/>
                </a:solidFill>
                <a:latin typeface="Segoe UI"/>
              </a:rPr>
              <a:t>Your data is sovereign territory.
It obeys your laws, not Amazon's.
Every datum deserves an immutable identity.
KAKI is its permanent passport.
Quality is not a checkbox.
It is a mathematical distance in orbital space.
History is sacred.
No operation may erase what was.
Memory safety is sovereignty.
Rust enforces what laws cannot.
Iraqi mathematics built this.
Plimpton 322 · Ibn Wahshiyya · Enki · Gilgamesh.
بياناتك أرض سيادية. هويتها أبدية. جودتها رياضية. تاريخها مقدس.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0" y="4572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D4A843"/>
                </a:solidFill>
                <a:latin typeface="Segoe UI"/>
              </a:rPr>
              <a:t>𒀭𒂗𒆤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554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D4A843"/>
                </a:solidFill>
                <a:latin typeface="Segoe UI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926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E8D5A3"/>
                </a:solidFill>
                <a:latin typeface="Segoe UI"/>
              </a:rPr>
              <a:t>أسئلة؟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DB8FF"/>
                </a:solidFill>
                <a:latin typeface="Segoe UI"/>
              </a:rPr>
              <a:t>github.com/bahyway/enkidb  ·  bahyway.com  ·  heptascript.com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8E8E8"/>
                </a:solidFill>
                <a:latin typeface="Segoe UI"/>
              </a:rPr>
              <a:t>Bahaa Fadam  ·  bahaa.fadam@gmail.com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  <a:latin typeface="Segoe UI"/>
              </a:rPr>
              <a:t>EnkiDB v4.0.2 · 79 Crates · Pure Rust · 1,804 Tests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